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8A98B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
grounding</c:v>
                  </c:pt>
                  <c:pt idx="1">
                    <c:v>M2
near-miss red</c:v>
                  </c:pt>
                  <c:pt idx="2">
                    <c:v>M2b
ıska red</c:v>
                  </c:pt>
                  <c:pt idx="3">
                    <c:v>M5 ↓
ezber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0.662</c:v>
                </c:pt>
                <c:pt idx="1">
                  <c:v>0.704</c:v>
                </c:pt>
                <c:pt idx="2">
                  <c:v>1</c:v>
                </c:pt>
                <c:pt idx="3">
                  <c:v>0.225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v2b</c:v>
                </c:pt>
              </c:strCache>
            </c:strRef>
          </c:tx>
          <c:spPr>
            <a:solidFill>
              <a:srgbClr val="2E8B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
grounding</c:v>
                  </c:pt>
                  <c:pt idx="1">
                    <c:v>M2
near-miss red</c:v>
                  </c:pt>
                  <c:pt idx="2">
                    <c:v>M2b
ıska red</c:v>
                  </c:pt>
                  <c:pt idx="3">
                    <c:v>M5 ↓
ezber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0.737</c:v>
                </c:pt>
                <c:pt idx="1">
                  <c:v>0.346</c:v>
                </c:pt>
                <c:pt idx="2">
                  <c:v>0.969</c:v>
                </c:pt>
                <c:pt idx="3">
                  <c:v>0.175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</c:v>
                </c:pt>
              </c:strCache>
            </c:strRef>
          </c:tx>
          <c:spPr>
            <a:solidFill>
              <a:srgbClr val="C29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
grounding</c:v>
                  </c:pt>
                  <c:pt idx="1">
                    <c:v>M2
near-miss red</c:v>
                  </c:pt>
                  <c:pt idx="2">
                    <c:v>M2b
ıska red</c:v>
                  </c:pt>
                  <c:pt idx="3">
                    <c:v>M5 ↓
ezber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0.881</c:v>
                </c:pt>
                <c:pt idx="1">
                  <c:v>0.593</c:v>
                </c:pt>
                <c:pt idx="2">
                  <c:v>0.529</c:v>
                </c:pt>
                <c:pt idx="3">
                  <c:v>0.075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3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CE6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23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Tez tek cümlede: bu maliyetle buraya kadar çıkıyoruz — ve yaklaşmanın kaynağını FT ile harness arasında ayrıştırıyoruz.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Özet: pozitif kadar negatif bulgularıyla, tüketici donanımında bir maliyet-parite çerçevesi.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Erişilebilirlik = maliyet-performans eğrisi (soft gate ≤8GB). Birincil kitle = uzman/hukukçu. Lisans-temiz veri.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Klasik '12B&gt;4B' ya da 'frontier'ı geçtik' tuzağına düşmüyoruz. İddia iki eksenli: eşit maliyet başına kalite.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Hocanın istatistik + karar-analizi uzmanlığına doğrudan konuşan nokta.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Tezin özgün analitik omurgası: parite'yi kaynağına ayrıştırmak.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tip halüsinasyon ayrı savunma ister — bu yüzden KAPI 2 iki-boyutlu.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kilidi = QAT gerekçesi. Erişilebilirlik 4B'ye inmekle değil 12B'yi kuantize etmekle sağlanır.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metrik groundedness; abstention = tercih davranışı.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Harness dilimi teze dahil; graph-RAG hariç.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M2'yi düzeltmenin M2b'yi bozması tam da görmek istediğimiz sinyal.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Cross-family + aile-dışlama + hakemsiz omurga.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tur bir öncekinin ölçülmüş zaafını hedefler; bir sonraki tekniği gerektiği kanıtlandığı için getirir.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Protokol: Gemma 4 12B + QLoRA, seed 3407, hakem gpt-4o-mini. Kaynak: docs/record/SCORECARD.md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SKORKART (docs/record/SCORECARD.md). Rakip sütunları (Gemini/Sonnet/GPT-5-mini) = KAPI 1'de OpenRouter'da ölçülüp doldurulacak. gpt-4o-mini = hakem, yarışmacı değil. Mecellem = cite-only.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çok-kriterli çerçeve olmadan görünmez kalırdı — negatif bulgu birinci sınıf.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 artık koşullu — 'önce ölç, sonra eğit'. Para-kapıları: v4 eğitimi, GPT-hakem, OpenRouter.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 katı; tek istisna harness dilimi teze çekildi (ADR-0019). Graph-RAG = future-work.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'SFT ile her şey düzelir' varsayımıyla dolu; biz neden çöktüğünü kontrollü ablasyonla gösteriyoruz.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Sınırları dürüstçe koyuyoruz; makale kapısı açık.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Canlı bir araştırma programının anlık görüntüsü.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26365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1188720"/>
            <a:ext cx="3657600" cy="36576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10561320" y="457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HakHukuk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i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Maliyet-Normalize Paritede Erişilebilir Bir Türk Hukuk Asistanı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İddiası, Değerlendirme Yöntemi ve Kanıtlanmış İlerleme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A4A"/>
          </a:solidFill>
          <a:ln w="12700">
            <a:solidFill>
              <a:srgbClr val="C29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79392"/>
            <a:ext cx="10332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ekseni.  </a:t>
            </a:r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bir domainde (TR hukuku), ~0 marjinal maliyetle tüketici donanımında çalışan bir SLM + harness, kapalı ticari modellerin dağıtım sınıfına maliyet-normalize paritede ne kadar yaklaşır — ve bunun ne kadarı FT, ne kadarı harness?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 sunumu · 17 Temmuz 2026    ·    Sayılar outputs/eval/*_summary.json'a dayanır (sabit seed, loglu, tekrar-üretilebilir)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ÖZETI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İddia ve Nerede Olduğumuz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361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0.662→0.881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(M1) — en iyi tur (v3)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modelin belirgin üstünde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70832" y="15361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0.225→0.075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07992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 (M5, anti-hedef) neredeyse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sıfırlandı — harness'e dayanıyor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0144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55864" y="15361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KAPI 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93024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iş: rakip baseline'ı kendi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terazimizde çıplak ölç (henüz boş)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3063240"/>
            <a:ext cx="8945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Hukuki bilgiye erişim pahalı ve opak. Frontier LLM'ler güçlü ama kapalı, pahalı ve en tehlikeli oldukları yerde — var olmayan kanun/madde uydurmakta — yapısal açık veriyor.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9592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Yaklaşım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06040" y="3995928"/>
            <a:ext cx="8945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12B'yi (QLoRA → Q4_0 ~6.5 GB GGUF) TR hukuk diline adapte et; etrafına deterministik harness (retriever + atıf-doğrulayıcı + red-kapısı) kur. Model iki davranış öğrenir: grounding + abstention.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92861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Dürüstçe konum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06040" y="4928616"/>
            <a:ext cx="8945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İddianın FT kolu çalıştı (v0→v3 = proof-of-concept). Henüz yapılmamış: rakip kapalı modellerin kendi terazimizde çıplak ölçümü + harness inşası. Aktif iş budur.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MISYON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Engel — ve Tezin Cevabı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Misyon: adalete erişimi demokratikleştirmek — vatandaşın yanında duran, hukuk dilini sadeleştiren, dosyasını anlamasına yardım eden bir asistan.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04288"/>
            <a:ext cx="685800" cy="685800"/>
          </a:xfrm>
          <a:prstGeom prst="ellipse">
            <a:avLst/>
          </a:prstGeom>
          <a:solidFill>
            <a:srgbClr val="1E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15798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Erişim maliyeti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15798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Danışmanlık pahalı; frontier API'leri de öyle (ölçekte her sorgu ücretli).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09560" y="2267712"/>
            <a:ext cx="0" cy="77724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157984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+ tüketici donanımı → ~0 marjinal maliyet. Maliyet iddianın birinci ekseni.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721608"/>
            <a:ext cx="685800" cy="685800"/>
          </a:xfrm>
          <a:prstGeom prst="ellipse">
            <a:avLst/>
          </a:prstGeom>
          <a:solidFill>
            <a:srgbClr val="1E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5753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Halüsinasyon riski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357530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LLM'ler var olmayan madde/karar uydurur — hukukta felaket.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09560" y="3685032"/>
            <a:ext cx="0" cy="77724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575304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abstention eğitimi (model) + deterministik atıf-doğrulayıcı (harness).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138928"/>
            <a:ext cx="685800" cy="685800"/>
          </a:xfrm>
          <a:prstGeom prst="ellipse">
            <a:avLst/>
          </a:prstGeom>
          <a:solidFill>
            <a:srgbClr val="1E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499262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Güncellik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26280" y="4992624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Yasalar değişir, ağırlıklar değişmez.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09560" y="5102352"/>
            <a:ext cx="0" cy="77724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4992624"/>
            <a:ext cx="3276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Güncellik modelin beyninde değil, kütüphanesinde (harness/RAG).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İDDIASI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Maliyet-Normalize Parite — İki Eksenli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24128" y="2880360"/>
            <a:ext cx="6492240" cy="1005840"/>
          </a:xfrm>
          <a:prstGeom prst="roundRect">
            <a:avLst>
              <a:gd name="adj" fmla="val 4545"/>
            </a:avLst>
          </a:prstGeom>
          <a:solidFill>
            <a:srgbClr val="2E8B8B">
              <a:alpha val="20000"/>
            </a:srgbClr>
          </a:solidFill>
          <a:ln w="12700">
            <a:solidFill>
              <a:srgbClr val="2E8B8B">
                <a:alpha val="60000"/>
              </a:srgbClr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14400" y="1600200"/>
            <a:ext cx="0" cy="4480560"/>
          </a:xfrm>
          <a:prstGeom prst="line">
            <a:avLst/>
          </a:prstGeom>
          <a:noFill/>
          <a:ln w="19050">
            <a:solidFill>
              <a:srgbClr val="8A98B5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6080760"/>
            <a:ext cx="6766560" cy="0"/>
          </a:xfrm>
          <a:prstGeom prst="line">
            <a:avLst/>
          </a:prstGeom>
          <a:noFill/>
          <a:ln w="19050">
            <a:solidFill>
              <a:srgbClr val="8A98B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144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 (6-mod CANON)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6153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(marjinal, log-ölçek)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3383280"/>
            <a:ext cx="1965960" cy="0"/>
          </a:xfrm>
          <a:prstGeom prst="line">
            <a:avLst/>
          </a:prstGeom>
          <a:noFill/>
          <a:ln w="22225">
            <a:solidFill>
              <a:srgbClr val="E4C55C"/>
            </a:solidFill>
            <a:prstDash val="dash"/>
            <a:headEnd type="triangl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97280" y="39502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Parite bandı: Bizim ≈ Rakipler (aynı kalite) — asıl fark YATAYDA: ~1/N maliyet.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28032" y="1993392"/>
            <a:ext cx="219456" cy="219456"/>
          </a:xfrm>
          <a:prstGeom prst="ellipse">
            <a:avLst/>
          </a:prstGeom>
          <a:solidFill>
            <a:srgbClr val="8A98B5"/>
          </a:solidFill>
          <a:ln w="12700">
            <a:solidFill>
              <a:srgbClr val="141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8470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3.5 Pro / Opus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tavan referansı (rakip değil)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5112" y="3273552"/>
            <a:ext cx="219456" cy="219456"/>
          </a:xfrm>
          <a:prstGeom prst="ellipse">
            <a:avLst/>
          </a:prstGeom>
          <a:solidFill>
            <a:srgbClr val="E4C55C"/>
          </a:solidFill>
          <a:ln w="12700">
            <a:solidFill>
              <a:srgbClr val="141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6700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/ Sonnet / 5-mini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RAKİPLER — parite hedefi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7335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(FT + harness)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kaliteye ~0 maliyetle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673352" y="4828032"/>
            <a:ext cx="219456" cy="219456"/>
          </a:xfrm>
          <a:prstGeom prst="ellipse">
            <a:avLst/>
          </a:prstGeom>
          <a:solidFill>
            <a:srgbClr val="2E8B8B"/>
          </a:solidFill>
          <a:ln w="12700">
            <a:solidFill>
              <a:srgbClr val="141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46817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harness (E)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FT'siz → kalite düşer (D − E)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Rakipler = dağıtım sınıfı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198424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 · Sonnet · GPT-5-mini — ölçekte gerçekten koşulan katman; maliyet köşemize en yakın. Parite hedefi bunlar.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38160" y="3154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Tavan (rakip DEĞİL)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8160" y="344728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Pro / Opus — grafikte tek çizgi. Parite iddia edilmez, sadece tavan gösterilir.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38160" y="4617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 disiplini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38160" y="491032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Paper'da rakiplere 'frontier' denmez, 'maliyet bandı' denir → kısır tartışma açılmaz.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İNCELIK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Bir Eşdeğerlik İddiası — Fark İddiası Değil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YANLIŞ araç: fark testi (t-test)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"Fark bulamadık" ≠ "eşdeğer".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fark testinin anlamlı çıkmaması, iki sistemin aynı olduğunu göstermez — sadece farkı gösterememiştir.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Parite = 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≈ B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(bizim sistem ≈ rakip) → bu bir eşdeğerlik iddiasıdır.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 araç: TOST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One-Sided Tests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tanımlı bir eşdeğerlik payı içinde kalındığını pozitif olarak gösterir.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61188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26365C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7947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4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n baştan büyük tutulur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 fark testinden daha çok örnek ister → sonradan büyütmek zorunda kalmamak için: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core_hard 100  ·  trap 75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IZGARASI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"Ne Kadarı FT, Ne Kadarı Harness?"  (2×2 + E)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78892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YOK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4068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VAR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Rakipler (kapalı)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88920" y="178308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7830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40680" y="178308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17830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Bizim FT (v4)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88920" y="320040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32004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440680" y="320040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C29A2E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32004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(ham Gemma)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788920" y="461772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F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788920" y="46177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98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40680" y="4617720"/>
            <a:ext cx="2468880" cy="1234440"/>
          </a:xfrm>
          <a:prstGeom prst="roundRect">
            <a:avLst>
              <a:gd name="adj" fmla="val 4444"/>
            </a:avLst>
          </a:prstGeom>
          <a:solidFill>
            <a:srgbClr val="2E8B8B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46177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⭐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183880" y="1828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Adil kıyas = D vs B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83880" y="212140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 aynı harness'la. 'Modelimiz çıplak frontier'ı geçti' gibi haksız kıyas yok.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83880" y="32461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ana ablasyon ⭐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183880" y="353872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harness: paritenin ne kadarı sadece harness'tan? FT'nin katma değeri = D − 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8388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Adalet kuralı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83880" y="4956048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tüm öznelere birebir aynı uygulanır — sadece bize verirsek tez ölür (ADR-0019).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İKI-KATMANLI GÜVENLIK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Halüsinasyonun İki Tipi, İki Savunma (KAPI 2)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Atıflı halüsinasyon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"Madde X der ki…" ama X öyle demez.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4709160" cy="502920"/>
          </a:xfrm>
          <a:prstGeom prst="roundRect">
            <a:avLst>
              <a:gd name="adj" fmla="val 9091"/>
            </a:avLst>
          </a:prstGeom>
          <a:solidFill>
            <a:srgbClr val="2E8B8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88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Savunma → Harness'ın atıf-doğrulayıcısı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Deterministik — verilen atfı canlı mevzuata (Bedesten API) karşı doğrular, yakalar.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7830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Atıfsız halüsinasyon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2128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göstermeden uydurma.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2788920"/>
            <a:ext cx="4709160" cy="502920"/>
          </a:xfrm>
          <a:prstGeom prst="roundRect">
            <a:avLst>
              <a:gd name="adj" fmla="val 9091"/>
            </a:avLst>
          </a:prstGeom>
          <a:solidFill>
            <a:srgbClr val="C29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788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Savunma → Modelin kendi abstention'ı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yoksa atıfsız uydurmayı hiçbir şey durdurmaz → model kendi içinde güvenli olmalı.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1E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9377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4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kapısı iki boyutlu: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harness'lı marj (D vs E)  VE  (b) base-only dağıtım güvenliği (v4-çıplak vs C). En ucuz dağıtımda model kendi içi güvenli olmalı.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— BAZ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4 12B Neden SABİT (Qwen'e Geçmedik)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54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12B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15184" y="2011680"/>
            <a:ext cx="146304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1554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6352" y="1554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ince-ayar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45736" y="2011680"/>
            <a:ext cx="146304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01184" y="1554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46904" y="1554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→ Q4_0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76288" y="2011680"/>
            <a:ext cx="146304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31736" y="1554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77456" y="1554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 GB GGUF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146304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62288" y="15544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C29A2E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08008" y="1554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tüketici GPU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 maliyet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 → Q4_0 zinciri maliyet iddiasının dayanağıdır.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sabit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063240"/>
            <a:ext cx="8534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iddiasının en kırılgan halkası kuantizasyon kaybı. Gemma bunu resmî QAT ile garantiler. QAT'siz bir base'i (Qwen) Q4_0'a kendi elimizle indirmek = bilinmeyen kalite kaybı → doğrudan tezin kalite ekseninden düşer.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Kâr / zarar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4023360"/>
            <a:ext cx="8534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Kazanç ~1.5 GB, kayıp = iddianın temeli → değmez.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Dış geçerlilik (dürüstçe)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4983480"/>
            <a:ext cx="8534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"Bulgular Gemma'ya özgü mü?" → tezde açık bir limitations maddesi + future-work. Tek-base çalışmayız; Qwen replikasyon kolu kapsam dışı (ADR-0017).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İNCE-AYAR (FT) KOLU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"Bilgi Değil, Dürüstlük"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Felsefe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kafasına güncel kanun basmaya çalışmıyoruz. İki davranış öğretiyoruz: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4754880" cy="777240"/>
          </a:xfrm>
          <a:prstGeom prst="roundRect">
            <a:avLst>
              <a:gd name="adj" fmla="val 5882"/>
            </a:avLst>
          </a:prstGeom>
          <a:solidFill>
            <a:srgbClr val="26365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632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—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verilince ona sadık kal.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950208"/>
            <a:ext cx="4754880" cy="777240"/>
          </a:xfrm>
          <a:prstGeom prst="roundRect">
            <a:avLst>
              <a:gd name="adj" fmla="val 5882"/>
            </a:avLst>
          </a:prstGeom>
          <a:solidFill>
            <a:srgbClr val="26365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50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—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yok/yanlışsa uydurma, reddet.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864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ana metrik doğru-cevap-oranı değil, groundedness.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 + dağıtım hattı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— 4-bit NF4 + LoRA adaptörü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 · α=32 · all-linear · dropout 0.05  →  ~65.5M eğitilebilir param (12B'nin ~%0.5'i). 12 GB laptop GPU'da bile mümkün.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3611880"/>
            <a:ext cx="4754880" cy="1051560"/>
          </a:xfrm>
          <a:prstGeom prst="roundRect">
            <a:avLst>
              <a:gd name="adj" fmla="val 4348"/>
            </a:avLst>
          </a:prstGeom>
          <a:solidFill>
            <a:srgbClr val="26365C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6118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İnce-ayar (NF4)  →  merge (bf16)  →  Q4_0 (llama.cpp)  →  GGUF ~6.5 GB  →  8 GB VRAM son-kullanıcı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800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i="1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Erişilebilirlik, 4B'ye inmekle değil, 12B'yi kuantize etmekle sağlanır.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— FAZ-2 DILIMI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Teze DAHİL: Adil Kıyas Harness'sız Kurulamaz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Faz-sırası istisnası (ADR-0019): parite iddiası harness'sız kurulamaz (adil kıyas = rakip + aynı harness). Faz 2'nin şu dilimi teze alındı: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2E8B8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Hibrit retriever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TR embedding — doğru maddeyi getirir.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1945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2194560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1E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Atıf-doğrulayıcı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88036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Bedesten API (deterministik) — modelin atfını canlı mevzuata karşı doğrular; atıflı halüsinasyonu yakalar.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219456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10144" y="2194560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C29A2E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kapısı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38744" y="288036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Refusal-gate — güven eşiği altında cevabı bloke eder.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3E3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89204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Graph-RAG = kesin future-work, tezden HARİÇ.  </a:t>
            </a:r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Parite iddiasına sıfır katkı, takvimin yarısını yer, iki hikâyeyi seyreltir.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ÇERÇEVESI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6-Mod CANON — Neden Çok-Kriterli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skorla bir hukuk modelini ölçmek yanıltıcı: yüksek doğruluk aşırı-güvenle uydurmaktan da gelebilir. Eksenler birbiriyle çelişebilir (Pareto ödünleşimi).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11535" cy="4846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faithfulness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011680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62480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altında sadakat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496312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grounding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496312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496312"/>
            <a:ext cx="62480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 kaynakta tavan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980944"/>
            <a:ext cx="10911535" cy="4846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80944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2980944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yanlış-kaynak reddi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980944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980944"/>
            <a:ext cx="62480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reddi (FT kolunun ana hedefi)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3465576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3465576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çok-kaynak ıska reddi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3465576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465576"/>
            <a:ext cx="62480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Doğrusu hiçbirinde yokken reddet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950208"/>
            <a:ext cx="10911535" cy="4846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50208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3950208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boş-bağlam reddi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3950208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950208"/>
            <a:ext cx="62480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yokken reddet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4434840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kör/parametrik doğruluk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4434840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4434840"/>
            <a:ext cx="62480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 — ANTI-hedef (düşük = iyi)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4919472"/>
            <a:ext cx="10911535" cy="4846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919472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08760" y="4919472"/>
            <a:ext cx="3108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(uzman_frac)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63440" y="4919472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4919472"/>
            <a:ext cx="62480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Uzman dili, vatandaş jargonu değil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55138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Mod-stratifikasyon (skorlar ortalanmaz) · cevaplanan-only makro (her şeyi reddederek yüksek sadakat hilesi engellenir) · seed 3407.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TASARIMI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Self-Preference'ı Kesmek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 kapalı ticari modeller olunca hakem yanlılığı kritik: OpenAI ailesi hem hakem (gpt-4o-mini) hem özne (GPT-5-mini) olursa self-preference skoru kaydırır. Üç katman: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459736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Cross-family panel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2286000"/>
            <a:ext cx="6933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özneden farklı aileden (Claude/Gemini). κ ile uyum ölçülür (Cohen κ + Pearson + spot-check).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73552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47288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27355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Aile-dışlama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3273552"/>
            <a:ext cx="6933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özneyi kendi ailesinden hakem puanlamaz.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61104"/>
            <a:ext cx="10911535" cy="896112"/>
          </a:xfrm>
          <a:prstGeom prst="roundRect">
            <a:avLst>
              <a:gd name="adj" fmla="val 8163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rgbClr val="1E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261104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Hakemsiz omurga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34840" y="4261104"/>
            <a:ext cx="6933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Reddetme rejection_exact regex ile (LLM'siz) + atıf Bedesten API ile deterministik doğrulanır.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21808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FBF3DE"/>
          </a:solidFill>
          <a:ln w="12700">
            <a:solidFill>
              <a:srgbClr val="C87F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21808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8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Ön-adım (zorunlu):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Gemma çıktısına yazıldı; rakip red kalıplarını eksik sayabilir → ölçümden önce kalibre edilir, yoksa skor sessizce bizim lehimize kayar.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ELDEKILER — FT KOLU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 → v4: Teşhis-Güdümlü Bir Dizi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960120" cy="640080"/>
          </a:xfrm>
          <a:prstGeom prst="roundRect">
            <a:avLst>
              <a:gd name="adj" fmla="val 7143"/>
            </a:avLst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SFT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600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Battı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6480" y="1600200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Ezberledi; '7 Kasım 1982' 154× tekrar → forum verisi ezber öğretir.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960120" cy="640080"/>
          </a:xfrm>
          <a:prstGeom prst="roundRect">
            <a:avLst>
              <a:gd name="adj" fmla="val 7143"/>
            </a:avLst>
          </a:prstGeom>
          <a:solidFill>
            <a:srgbClr val="1E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91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3591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3591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Net-negatif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6480" y="2359152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Reddetmeyi yok etti (0.741→0.000). SFT üslubu öğretir, abstention'ı söker.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960120" cy="640080"/>
          </a:xfrm>
          <a:prstGeom prst="roundRect">
            <a:avLst>
              <a:gd name="adj" fmla="val 7143"/>
            </a:avLst>
          </a:prstGeom>
          <a:solidFill>
            <a:srgbClr val="1E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18104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83080" y="31181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RAFT-SFT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11810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Kabul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26480" y="3118104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kapıları geçti; grounding'i taban üstüne çıkardı. İlk sağlam temel.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960120" cy="640080"/>
          </a:xfrm>
          <a:prstGeom prst="roundRect">
            <a:avLst>
              <a:gd name="adj" fmla="val 7143"/>
            </a:avLst>
          </a:prstGeom>
          <a:solidFill>
            <a:srgbClr val="1E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77056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83080" y="38770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Near-miss, düz SFT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387705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RED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26480" y="3877056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Grounding-Abstention paradoksu: abstention tercih işi, SFT işi değil (ADR-0014).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636008"/>
            <a:ext cx="960120" cy="640080"/>
          </a:xfrm>
          <a:prstGeom prst="roundRect">
            <a:avLst>
              <a:gd name="adj" fmla="val 7143"/>
            </a:avLst>
          </a:prstGeom>
          <a:solidFill>
            <a:srgbClr val="1E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3600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783080" y="4636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ORPO (v2b-cont.)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46360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Kısmî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26480" y="4636008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Paradoksu onardı (M1↑, ezber↓) ama M2 base-altı + yeni M2b regresyonu (ADR-0015).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394960"/>
            <a:ext cx="960120" cy="640080"/>
          </a:xfrm>
          <a:prstGeom prst="roundRect">
            <a:avLst>
              <a:gd name="adj" fmla="val 7143"/>
            </a:avLst>
          </a:prstGeom>
          <a:solidFill>
            <a:srgbClr val="1E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3949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83080" y="5394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ORPO + negatif-aile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97680" y="5394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⚪ Koşullu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126480" y="5394960"/>
            <a:ext cx="5425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v3'ün açığını hedefler; artık Kapı 1∧2'ye bağlı.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SKORKART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 Turları × Eksenler (base · v2b · v3)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55448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600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okunur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2011680"/>
            <a:ext cx="3337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↑ 0.881 —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grounding'i base'i belirgin geçti.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↓ 0.075 —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 neredeyse sıfır (anti-hedef iyi).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M2b 1.0 → 0.529 —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v3'ün yeni regresyonu (bkz. sonraki slayt).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C8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0.593 —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iyileşti ama hâlâ base-altı.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0" y="5257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Ayrıca: M4 oracle 0.978→1.000 · register uzman_frac ~1.0 korundu.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KARŞILAŞTIRMA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Turlar × Tüm Eksenler (ANA SKORKART)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371332" y="2121408"/>
            <a:ext cx="3144622" cy="3749040"/>
          </a:xfrm>
          <a:prstGeom prst="roundRect">
            <a:avLst>
              <a:gd name="adj" fmla="val 1745"/>
            </a:avLst>
          </a:prstGeom>
          <a:solidFill>
            <a:srgbClr val="EEF1F6"/>
          </a:solidFill>
          <a:ln w="15875">
            <a:solidFill>
              <a:srgbClr val="C29A2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407347" y="2212848"/>
            <a:ext cx="0" cy="3566160"/>
          </a:xfrm>
          <a:prstGeom prst="line">
            <a:avLst/>
          </a:prstGeom>
          <a:noFill/>
          <a:ln w="9525">
            <a:solidFill>
              <a:srgbClr val="8A98B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479938" y="2212848"/>
            <a:ext cx="0" cy="3566160"/>
          </a:xfrm>
          <a:prstGeom prst="line">
            <a:avLst/>
          </a:prstGeom>
          <a:noFill/>
          <a:ln w="9525">
            <a:solidFill>
              <a:srgbClr val="8A98B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426196" y="2121408"/>
            <a:ext cx="303489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 1
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ölçülmedi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(OpenRouter'da doldurulacak)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1800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44391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16982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v2c 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89574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⭐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62165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Mecellem°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34756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07347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79938" y="1737360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GPT-5m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21214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08376" y="215798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B8912B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212140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80967" y="215798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B8912B"/>
          </a:solidFill>
          <a:ln/>
        </p:spPr>
      </p:sp>
      <p:sp>
        <p:nvSpPr>
          <p:cNvPr id="21" name="Text 19"/>
          <p:cNvSpPr/>
          <p:nvPr/>
        </p:nvSpPr>
        <p:spPr>
          <a:xfrm>
            <a:off x="4044391" y="212140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53558" y="215798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B8912B"/>
          </a:solidFill>
          <a:ln/>
        </p:spPr>
      </p:sp>
      <p:sp>
        <p:nvSpPr>
          <p:cNvPr id="23" name="Text 21"/>
          <p:cNvSpPr/>
          <p:nvPr/>
        </p:nvSpPr>
        <p:spPr>
          <a:xfrm>
            <a:off x="5116982" y="212140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26150" y="215798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4E9E73"/>
          </a:solidFill>
          <a:ln w="25400">
            <a:solidFill>
              <a:srgbClr val="C29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9574" y="212140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98741" y="215798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ECEFF4"/>
          </a:solidFill>
          <a:ln/>
        </p:spPr>
      </p:sp>
      <p:sp>
        <p:nvSpPr>
          <p:cNvPr id="27" name="Text 25"/>
          <p:cNvSpPr/>
          <p:nvPr/>
        </p:nvSpPr>
        <p:spPr>
          <a:xfrm>
            <a:off x="7262165" y="212140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25420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08376" y="257860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30" name="Text 28"/>
          <p:cNvSpPr/>
          <p:nvPr/>
        </p:nvSpPr>
        <p:spPr>
          <a:xfrm>
            <a:off x="2971800" y="254203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080967" y="257860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32" name="Text 30"/>
          <p:cNvSpPr/>
          <p:nvPr/>
        </p:nvSpPr>
        <p:spPr>
          <a:xfrm>
            <a:off x="4044391" y="254203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153558" y="257860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34" name="Text 32"/>
          <p:cNvSpPr/>
          <p:nvPr/>
        </p:nvSpPr>
        <p:spPr>
          <a:xfrm>
            <a:off x="5116982" y="254203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26150" y="257860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 w="25400">
            <a:solidFill>
              <a:srgbClr val="C29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9574" y="254203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298741" y="257860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ECEFF4"/>
          </a:solidFill>
          <a:ln/>
        </p:spPr>
      </p:sp>
      <p:sp>
        <p:nvSpPr>
          <p:cNvPr id="38" name="Text 36"/>
          <p:cNvSpPr/>
          <p:nvPr/>
        </p:nvSpPr>
        <p:spPr>
          <a:xfrm>
            <a:off x="7262165" y="254203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29626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yanlış-kaynak red ↑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299923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B8912B"/>
          </a:solidFill>
          <a:ln w="25400">
            <a:solidFill>
              <a:srgbClr val="C29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296265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080967" y="299923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4044391" y="296265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0.346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153558" y="299923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C87F1A"/>
          </a:solidFill>
          <a:ln/>
        </p:spPr>
      </p:sp>
      <p:sp>
        <p:nvSpPr>
          <p:cNvPr id="45" name="Text 43"/>
          <p:cNvSpPr/>
          <p:nvPr/>
        </p:nvSpPr>
        <p:spPr>
          <a:xfrm>
            <a:off x="5116982" y="296265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0.407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26150" y="299923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B8912B"/>
          </a:solidFill>
          <a:ln/>
        </p:spPr>
      </p:sp>
      <p:sp>
        <p:nvSpPr>
          <p:cNvPr id="47" name="Text 45"/>
          <p:cNvSpPr/>
          <p:nvPr/>
        </p:nvSpPr>
        <p:spPr>
          <a:xfrm>
            <a:off x="6189574" y="296265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0.593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298741" y="299923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ECEFF4"/>
          </a:solidFill>
          <a:ln/>
        </p:spPr>
      </p:sp>
      <p:sp>
        <p:nvSpPr>
          <p:cNvPr id="49" name="Text 47"/>
          <p:cNvSpPr/>
          <p:nvPr/>
        </p:nvSpPr>
        <p:spPr>
          <a:xfrm>
            <a:off x="7262165" y="296265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1.00*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33832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M2b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çok-kaynak red ↑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008376" y="341985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 w="25400">
            <a:solidFill>
              <a:srgbClr val="C29A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71800" y="338328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080967" y="341985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54" name="Text 52"/>
          <p:cNvSpPr/>
          <p:nvPr/>
        </p:nvSpPr>
        <p:spPr>
          <a:xfrm>
            <a:off x="4044391" y="338328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153558" y="341985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56" name="Text 54"/>
          <p:cNvSpPr/>
          <p:nvPr/>
        </p:nvSpPr>
        <p:spPr>
          <a:xfrm>
            <a:off x="5116982" y="338328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226150" y="341985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C87F1A"/>
          </a:solidFill>
          <a:ln/>
        </p:spPr>
      </p:sp>
      <p:sp>
        <p:nvSpPr>
          <p:cNvPr id="58" name="Text 56"/>
          <p:cNvSpPr/>
          <p:nvPr/>
        </p:nvSpPr>
        <p:spPr>
          <a:xfrm>
            <a:off x="6189574" y="338328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0.529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298741" y="341985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ECEFF4"/>
          </a:solidFill>
          <a:ln/>
        </p:spPr>
      </p:sp>
      <p:sp>
        <p:nvSpPr>
          <p:cNvPr id="60" name="Text 58"/>
          <p:cNvSpPr/>
          <p:nvPr/>
        </p:nvSpPr>
        <p:spPr>
          <a:xfrm>
            <a:off x="7262165" y="338328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0.919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640080" y="38039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boş-bağlam red ↑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3840480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63" name="Text 61"/>
          <p:cNvSpPr/>
          <p:nvPr/>
        </p:nvSpPr>
        <p:spPr>
          <a:xfrm>
            <a:off x="2971800" y="3803904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080967" y="3840480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65" name="Text 63"/>
          <p:cNvSpPr/>
          <p:nvPr/>
        </p:nvSpPr>
        <p:spPr>
          <a:xfrm>
            <a:off x="4044391" y="3803904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153558" y="3840480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67" name="Text 65"/>
          <p:cNvSpPr/>
          <p:nvPr/>
        </p:nvSpPr>
        <p:spPr>
          <a:xfrm>
            <a:off x="5116982" y="3803904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226150" y="3840480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69" name="Text 67"/>
          <p:cNvSpPr/>
          <p:nvPr/>
        </p:nvSpPr>
        <p:spPr>
          <a:xfrm>
            <a:off x="6189574" y="3803904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7298741" y="3840480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ECEFF4"/>
          </a:solidFill>
          <a:ln/>
        </p:spPr>
      </p:sp>
      <p:sp>
        <p:nvSpPr>
          <p:cNvPr id="71" name="Text 69"/>
          <p:cNvSpPr/>
          <p:nvPr/>
        </p:nvSpPr>
        <p:spPr>
          <a:xfrm>
            <a:off x="7262165" y="3803904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640080" y="42245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 ↓ (anti-hedef)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008376" y="426110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4E9E73"/>
          </a:solidFill>
          <a:ln/>
        </p:spPr>
      </p:sp>
      <p:sp>
        <p:nvSpPr>
          <p:cNvPr id="74" name="Text 72"/>
          <p:cNvSpPr/>
          <p:nvPr/>
        </p:nvSpPr>
        <p:spPr>
          <a:xfrm>
            <a:off x="2971800" y="422452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0.225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4080967" y="426110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4E9E73"/>
          </a:solidFill>
          <a:ln/>
        </p:spPr>
      </p:sp>
      <p:sp>
        <p:nvSpPr>
          <p:cNvPr id="76" name="Text 74"/>
          <p:cNvSpPr/>
          <p:nvPr/>
        </p:nvSpPr>
        <p:spPr>
          <a:xfrm>
            <a:off x="4044391" y="422452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0.175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153558" y="426110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4E9E73"/>
          </a:solidFill>
          <a:ln/>
        </p:spPr>
      </p:sp>
      <p:sp>
        <p:nvSpPr>
          <p:cNvPr id="78" name="Text 76"/>
          <p:cNvSpPr/>
          <p:nvPr/>
        </p:nvSpPr>
        <p:spPr>
          <a:xfrm>
            <a:off x="5116982" y="422452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6226150" y="426110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 w="25400">
            <a:solidFill>
              <a:srgbClr val="C29A2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89574" y="422452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7298741" y="4261104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ECEFF4"/>
          </a:solidFill>
          <a:ln/>
        </p:spPr>
      </p:sp>
      <p:sp>
        <p:nvSpPr>
          <p:cNvPr id="82" name="Text 80"/>
          <p:cNvSpPr/>
          <p:nvPr/>
        </p:nvSpPr>
        <p:spPr>
          <a:xfrm>
            <a:off x="7262165" y="4224528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0.350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640080" y="46451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↑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3008376" y="468172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85" name="Text 83"/>
          <p:cNvSpPr/>
          <p:nvPr/>
        </p:nvSpPr>
        <p:spPr>
          <a:xfrm>
            <a:off x="2971800" y="464515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4080967" y="468172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87" name="Text 85"/>
          <p:cNvSpPr/>
          <p:nvPr/>
        </p:nvSpPr>
        <p:spPr>
          <a:xfrm>
            <a:off x="4044391" y="464515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5153558" y="468172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89" name="Text 87"/>
          <p:cNvSpPr/>
          <p:nvPr/>
        </p:nvSpPr>
        <p:spPr>
          <a:xfrm>
            <a:off x="5116982" y="464515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6226150" y="468172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/>
        </p:spPr>
      </p:sp>
      <p:sp>
        <p:nvSpPr>
          <p:cNvPr id="91" name="Text 89"/>
          <p:cNvSpPr/>
          <p:nvPr/>
        </p:nvSpPr>
        <p:spPr>
          <a:xfrm>
            <a:off x="6189574" y="464515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7298741" y="4681728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ECEFF4"/>
          </a:solidFill>
          <a:ln/>
        </p:spPr>
      </p:sp>
      <p:sp>
        <p:nvSpPr>
          <p:cNvPr id="93" name="Text 91"/>
          <p:cNvSpPr/>
          <p:nvPr/>
        </p:nvSpPr>
        <p:spPr>
          <a:xfrm>
            <a:off x="7262165" y="4645152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0.200</a:t>
            </a:r>
            <a:endParaRPr lang="en-US" sz="1150" dirty="0"/>
          </a:p>
        </p:txBody>
      </p:sp>
      <p:sp>
        <p:nvSpPr>
          <p:cNvPr id="94" name="Text 92"/>
          <p:cNvSpPr/>
          <p:nvPr/>
        </p:nvSpPr>
        <p:spPr>
          <a:xfrm>
            <a:off x="640080" y="50657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xkanun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çapraz-kanun ↑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3008376" y="510235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2E7D4F"/>
          </a:solidFill>
          <a:ln w="25400">
            <a:solidFill>
              <a:srgbClr val="C29A2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71800" y="506577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4080967" y="510235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C87F1A"/>
          </a:solidFill>
          <a:ln/>
        </p:spPr>
      </p:sp>
      <p:sp>
        <p:nvSpPr>
          <p:cNvPr id="98" name="Text 96"/>
          <p:cNvSpPr/>
          <p:nvPr/>
        </p:nvSpPr>
        <p:spPr>
          <a:xfrm>
            <a:off x="4044391" y="506577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0.387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5153558" y="510235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F2F4F8"/>
          </a:solidFill>
          <a:ln/>
        </p:spPr>
      </p:sp>
      <p:sp>
        <p:nvSpPr>
          <p:cNvPr id="100" name="Text 98"/>
          <p:cNvSpPr/>
          <p:nvPr/>
        </p:nvSpPr>
        <p:spPr>
          <a:xfrm>
            <a:off x="5116982" y="506577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6226150" y="510235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B8912B"/>
          </a:solidFill>
          <a:ln/>
        </p:spPr>
      </p:sp>
      <p:sp>
        <p:nvSpPr>
          <p:cNvPr id="102" name="Text 100"/>
          <p:cNvSpPr/>
          <p:nvPr/>
        </p:nvSpPr>
        <p:spPr>
          <a:xfrm>
            <a:off x="6189574" y="506577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</a:t>
            </a:r>
            <a:endParaRPr lang="en-US" sz="1150" dirty="0"/>
          </a:p>
        </p:txBody>
      </p:sp>
      <p:sp>
        <p:nvSpPr>
          <p:cNvPr id="103" name="Shape 101"/>
          <p:cNvSpPr/>
          <p:nvPr/>
        </p:nvSpPr>
        <p:spPr>
          <a:xfrm>
            <a:off x="7298741" y="5102352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F2F4F8"/>
          </a:solidFill>
          <a:ln/>
        </p:spPr>
      </p:sp>
      <p:sp>
        <p:nvSpPr>
          <p:cNvPr id="104" name="Text 102"/>
          <p:cNvSpPr/>
          <p:nvPr/>
        </p:nvSpPr>
        <p:spPr>
          <a:xfrm>
            <a:off x="7262165" y="5065776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40080" y="54864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 </a:t>
            </a:r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↑ (OOD)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3008376" y="552297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4E9E73"/>
          </a:solidFill>
          <a:ln w="25400">
            <a:solidFill>
              <a:srgbClr val="C29A2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971800" y="548640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</a:t>
            </a:r>
            <a:endParaRPr lang="en-US" sz="1150" dirty="0"/>
          </a:p>
        </p:txBody>
      </p:sp>
      <p:sp>
        <p:nvSpPr>
          <p:cNvPr id="108" name="Shape 106"/>
          <p:cNvSpPr/>
          <p:nvPr/>
        </p:nvSpPr>
        <p:spPr>
          <a:xfrm>
            <a:off x="4080967" y="552297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  <a:ln/>
        </p:spPr>
      </p:sp>
      <p:sp>
        <p:nvSpPr>
          <p:cNvPr id="109" name="Text 107"/>
          <p:cNvSpPr/>
          <p:nvPr/>
        </p:nvSpPr>
        <p:spPr>
          <a:xfrm>
            <a:off x="4044391" y="548640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0.115</a:t>
            </a:r>
            <a:endParaRPr lang="en-US" sz="1150" dirty="0"/>
          </a:p>
        </p:txBody>
      </p:sp>
      <p:sp>
        <p:nvSpPr>
          <p:cNvPr id="110" name="Shape 108"/>
          <p:cNvSpPr/>
          <p:nvPr/>
        </p:nvSpPr>
        <p:spPr>
          <a:xfrm>
            <a:off x="5153558" y="552297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F2F4F8"/>
          </a:solidFill>
          <a:ln/>
        </p:spPr>
      </p:sp>
      <p:sp>
        <p:nvSpPr>
          <p:cNvPr id="111" name="Text 109"/>
          <p:cNvSpPr/>
          <p:nvPr/>
        </p:nvSpPr>
        <p:spPr>
          <a:xfrm>
            <a:off x="5116982" y="548640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6226150" y="552297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C87F1A"/>
          </a:solidFill>
          <a:ln/>
        </p:spPr>
      </p:sp>
      <p:sp>
        <p:nvSpPr>
          <p:cNvPr id="113" name="Text 111"/>
          <p:cNvSpPr/>
          <p:nvPr/>
        </p:nvSpPr>
        <p:spPr>
          <a:xfrm>
            <a:off x="6189574" y="548640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0.483</a:t>
            </a:r>
            <a:endParaRPr lang="en-US" sz="1150" dirty="0"/>
          </a:p>
        </p:txBody>
      </p:sp>
      <p:sp>
        <p:nvSpPr>
          <p:cNvPr id="114" name="Shape 112"/>
          <p:cNvSpPr/>
          <p:nvPr/>
        </p:nvSpPr>
        <p:spPr>
          <a:xfrm>
            <a:off x="7298741" y="5522976"/>
            <a:ext cx="941832" cy="347472"/>
          </a:xfrm>
          <a:prstGeom prst="roundRect">
            <a:avLst>
              <a:gd name="adj" fmla="val 13158"/>
            </a:avLst>
          </a:prstGeom>
          <a:solidFill>
            <a:srgbClr val="F2F4F8"/>
          </a:solidFill>
          <a:ln/>
        </p:spPr>
      </p:sp>
      <p:sp>
        <p:nvSpPr>
          <p:cNvPr id="115" name="Text 113"/>
          <p:cNvSpPr/>
          <p:nvPr/>
        </p:nvSpPr>
        <p:spPr>
          <a:xfrm>
            <a:off x="7262165" y="5486400"/>
            <a:ext cx="1014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640080" y="6016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Isı-skalası: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1600200" y="60533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2E7D4F"/>
          </a:solidFill>
          <a:ln/>
        </p:spPr>
      </p:sp>
      <p:sp>
        <p:nvSpPr>
          <p:cNvPr id="118" name="Text 116"/>
          <p:cNvSpPr/>
          <p:nvPr/>
        </p:nvSpPr>
        <p:spPr>
          <a:xfrm>
            <a:off x="1600200" y="6044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≥.90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2322576" y="60533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4E9E73"/>
          </a:solidFill>
          <a:ln/>
        </p:spPr>
      </p:sp>
      <p:sp>
        <p:nvSpPr>
          <p:cNvPr id="120" name="Text 118"/>
          <p:cNvSpPr/>
          <p:nvPr/>
        </p:nvSpPr>
        <p:spPr>
          <a:xfrm>
            <a:off x="2322576" y="6044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.75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3044952" y="60533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B8912B"/>
          </a:solidFill>
          <a:ln/>
        </p:spPr>
      </p:sp>
      <p:sp>
        <p:nvSpPr>
          <p:cNvPr id="122" name="Text 120"/>
          <p:cNvSpPr/>
          <p:nvPr/>
        </p:nvSpPr>
        <p:spPr>
          <a:xfrm>
            <a:off x="3044952" y="6044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.55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3767328" y="60533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C87F1A"/>
          </a:solidFill>
          <a:ln/>
        </p:spPr>
      </p:sp>
      <p:sp>
        <p:nvSpPr>
          <p:cNvPr id="124" name="Text 122"/>
          <p:cNvSpPr/>
          <p:nvPr/>
        </p:nvSpPr>
        <p:spPr>
          <a:xfrm>
            <a:off x="3767328" y="6044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.35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4489704" y="6053328"/>
            <a:ext cx="658368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</p:sp>
      <p:sp>
        <p:nvSpPr>
          <p:cNvPr id="126" name="Text 124"/>
          <p:cNvSpPr/>
          <p:nvPr/>
        </p:nvSpPr>
        <p:spPr>
          <a:xfrm>
            <a:off x="4489704" y="6044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5669280" y="60167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altın çerçeve = o eksende bizim turlarımızın lideri (M5 için düşük=iyi) · rakip sütunları KAPI 1'de dolacak.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640080" y="63093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 (Gemini 3 Flash · Claude Sonnet · GPT-5-mini) = KAPI 1'de aynı CANON'da ölçülecek (OpenRouter).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 Mecellem = cite-only referans (rakip DEĞİL, CPT-base). M2*=aşırı-reddetme patolojisi. gpt-4o-mini = HAKEM (sütun değil). v2c/OOD ve v0/v1 (eski protokol) ölçülmedi.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DEĞERLI BULGU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"Abstention Tek Beceri Değil, Bir Aile"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v3'ün ORPO'su "en ilgili kaynağı SEÇ" refleksini öğretti. Sonuç iki tuzak-tipinde ayrıştı: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M2'de DOĞRU  ✓
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yakın-ama-yanlış kaynak → reddedebiliyor.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4884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4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M2b'de YANLIŞ  ✗
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Birçok distractor, doğrusu hiçbirinde yok → "hiçbiri değil" diyemiyor, en yakınını seçip uyduruyor.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911535" cy="1828800"/>
          </a:xfrm>
          <a:prstGeom prst="roundRect">
            <a:avLst>
              <a:gd name="adj" fmla="val 4000"/>
            </a:avLst>
          </a:prstGeom>
          <a:solidFill>
            <a:srgbClr val="26365C"/>
          </a:solidFill>
          <a:ln w="12700">
            <a:solidFill>
              <a:srgbClr val="C29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976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 → 0.529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5212080" y="4434840"/>
            <a:ext cx="0" cy="11887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4297680"/>
            <a:ext cx="5699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M2b regresyonu = tezin merkezî negatif bulgusu.
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Reddetme tekil bir yetenek değil; farklı tuzak-tiplerine karşı ayrı ayrı öğretilmesi gereken bir davranış ailesidir (ADR-0015, research_log #32/#34).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VS ELDEKI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Izgaranın Neresi Dolu — Aktif İş = KAPI 1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BF3DE"/>
          </a:solidFill>
          <a:ln w="12700">
            <a:solidFill>
              <a:srgbClr val="C87F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Bizim FT, harness'sız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v0→v3 ölçüldü; 'oracle-context' gerçek retriever değil, iyimser tavan.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BF3DE"/>
          </a:solidFill>
          <a:ln w="12700">
            <a:solidFill>
              <a:srgbClr val="C87F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89520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+ harness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0" y="2011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base çıplak ölçüldü; gerçek harness henüz inşa edilmedi.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3E3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/ 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2898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Rakipler (± harness)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246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BOŞ — hiç ölçülmedi. Bu KAPI 1.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F3E3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89520" y="2898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Bizim FT + harness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0" y="3246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harness + v4 sonrası.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10911535" cy="1828800"/>
          </a:xfrm>
          <a:prstGeom prst="roundRect">
            <a:avLst>
              <a:gd name="adj" fmla="val 4000"/>
            </a:avLst>
          </a:prstGeom>
          <a:solidFill>
            <a:srgbClr val="1E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315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KAPI 1 — Aktif İş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" y="470916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baseline'ı (Gemini 3 Flash · Sonnet · GPT-5-mini) kendi 6-mod CANON terazimizde çıplak ölç.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set/mod/n/seed/hakem; inference = OpenRouter (tarihli snapshot pin).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44068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çıktısı:  </a:t>
            </a:r>
            <a:pPr indent="0" marL="0">
              <a:buNone/>
            </a:pPr>
            <a:r>
              <a:rPr lang="en-US" sz="1250" dirty="0">
                <a:solidFill>
                  <a:srgbClr val="E4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maks(rakip M2) ≥0.90 → parite açığı kapalı olabilir, v4 gereksiz.   ≤0.80 → açık gerçek, v4 devreye girer.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BEŞ-FAZ YOL HARITASI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 = Faz 1 + Faz 2'nin Harness Dilimi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C29A2E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74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042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FT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/ ORPO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teze dahil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29484" y="2606040"/>
            <a:ext cx="118872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52928" y="173736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2E8B8B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2928" y="1874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4368" y="23042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(RAG)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44368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+ atıf + kapı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52928" y="35478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teze dahil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42332" y="2606040"/>
            <a:ext cx="118872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65776" y="173736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65776" y="1874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57216" y="23042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+ Agentic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57216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Workflow + App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5180" y="2606040"/>
            <a:ext cx="118872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78624" y="173736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78624" y="1874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70064" y="23042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Niş Uzmanlık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70064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/ İş / Tüketici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68028" y="2606040"/>
            <a:ext cx="118872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91472" y="173736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1E2A4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91472" y="1874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82912" y="230428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Vatandaş Platformu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582912" y="29077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e-Devlet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ŞU AN: Faz 1 + KAPI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251960"/>
            <a:ext cx="10911535" cy="1600200"/>
          </a:xfrm>
          <a:prstGeom prst="roundRect">
            <a:avLst>
              <a:gd name="adj" fmla="val 4571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uçtan-uca akış (Faz 3-4 hedefi)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736592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 sahibim kirayı %100 artırmak istiyor"  →  [Agent] sözleşme tarihini sorar  →  [Tool] TÜFE API → güncel oran  →  [RAG] TBK 344 + geçici madde  →  [Atıf-doğrulayıcı] canlı mevzuata karşı doğrula  →  [Çıktı] itiraz dilekçesi taslağı + tevdi yöntemi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KATKI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Yayın Ekseni — Negatif Bulgular Birinci Sınıf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8138160" cy="941832"/>
          </a:xfrm>
          <a:prstGeom prst="roundRect">
            <a:avLst>
              <a:gd name="adj" fmla="val 7767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892808"/>
            <a:ext cx="384048" cy="384048"/>
          </a:xfrm>
          <a:prstGeom prst="ellipse">
            <a:avLst/>
          </a:prstGeom>
          <a:solidFill>
            <a:srgbClr val="C29A2E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6733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tez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965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Dar-domain SLM+harness'ın frontier dağıtım-sınıfına maliyet-normalize paritesi + FT-vs-harness katkı ayrıştırması (2×2+E, E=base+harness).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8138160" cy="941832"/>
          </a:xfrm>
          <a:prstGeom prst="roundRect">
            <a:avLst>
              <a:gd name="adj" fmla="val 7767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926080"/>
            <a:ext cx="384048" cy="384048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70662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Ölçüm altyapısı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9992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TR-hukuk grounding/abstention benchmark'ı (6-mod CANON) — literatürde yok. Birincil değil, iddiayı ölçen altyapı.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66744"/>
            <a:ext cx="8138160" cy="941832"/>
          </a:xfrm>
          <a:prstGeom prst="roundRect">
            <a:avLst>
              <a:gd name="adj" fmla="val 7767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959352"/>
            <a:ext cx="384048" cy="384048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73989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Ampirik bulgu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03250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modeli 'dürüst' davranmaya eğitmenin ablasyon serisi. Negatif bulgular: 'SFT abstention'ı söker', 'grounding-abstention paradoksu', 'abstention bir ailedir'.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0016"/>
            <a:ext cx="8138160" cy="941832"/>
          </a:xfrm>
          <a:prstGeom prst="roundRect">
            <a:avLst>
              <a:gd name="adj" fmla="val 7767"/>
            </a:avLst>
          </a:prstGeom>
          <a:solidFill>
            <a:srgbClr val="EAF0FA"/>
          </a:solidFill>
          <a:ln/>
          <a:effectLst>
            <a:outerShdw sx="100000" sy="100000" kx="0" ky="0" algn="bl" rotWithShape="0" blurRad="101600" dist="38100" dir="5400000">
              <a:srgbClr val="9AA6BD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992624"/>
            <a:ext cx="384048" cy="38404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7731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Future-work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06577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mimari karşılaştırması; çok-base replikasyon (dış geçerlilik).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160020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1E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28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98280" y="2240280"/>
            <a:ext cx="2331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NLLP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legal NLP workshop — niş+sistem için ideal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LREC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tek başına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NLP
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 venue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85800" cy="685800"/>
          </a:xfrm>
          <a:prstGeom prst="ellipse">
            <a:avLst/>
          </a:prstGeom>
          <a:solidFill>
            <a:srgbClr val="C29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508760" y="384048"/>
            <a:ext cx="9997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RISKLER, SINIRLAR VE SONRAKI ADIMLAR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490472" y="6035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Dürüstçe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Bilinen sınırlar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5681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28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geçerlilik — tek-base. Bulgular Gemma 4 12B'ye özgü olabilir (QAT gerekçesiyle kilitli) → açık limitations.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6148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3347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"Oracle-context" gerçek RAG değil — M1/M4 elle konan gold ile; gerçek retriever'ın iyimser tavanı.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814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hücreleri (A/B) henüz boş — parite kurulu ama ölçülmemiş (Kapı 1 doldurur).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37083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42816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Hakem = LLM. İnsan-κ descoped; cross-family + spot-check ile hafifletildi.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51755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04748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belirsizliği — MareNostrum5 gelmezse boyut-eğrisi kolu kapanır (HPC = yükselteç, bağımlılık değil).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242255" cy="4480560"/>
          </a:xfrm>
          <a:prstGeom prst="roundRect">
            <a:avLst>
              <a:gd name="adj" fmla="val 1633"/>
            </a:avLst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Sonraki somut adımlar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103120"/>
            <a:ext cx="457200" cy="457200"/>
          </a:xfrm>
          <a:prstGeom prst="ellipse">
            <a:avLst/>
          </a:prstGeom>
          <a:solidFill>
            <a:srgbClr val="E4C5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2057400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 1: regex kalibrasyonu → rakipleri (Flash/Sonnet/5-mini) 6-mod CANON'da çıplak ölç (OpenRouter).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035808"/>
            <a:ext cx="457200" cy="457200"/>
          </a:xfrm>
          <a:prstGeom prst="ellipse">
            <a:avLst/>
          </a:prstGeom>
          <a:solidFill>
            <a:srgbClr val="E4C5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990088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kararı: parite açığı gerçek mi? → v4 go/no-go.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968496"/>
            <a:ext cx="457200" cy="457200"/>
          </a:xfrm>
          <a:prstGeom prst="ellipse">
            <a:avLst/>
          </a:prstGeom>
          <a:solidFill>
            <a:srgbClr val="E4C5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922776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dilimini inşa et (retriever + Bedesten atıf-doğrulayıcı + red-kapısı) → B/D/E hücrelerini doldur.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4901184"/>
            <a:ext cx="457200" cy="457200"/>
          </a:xfrm>
          <a:prstGeom prst="ellipse">
            <a:avLst/>
          </a:prstGeom>
          <a:solidFill>
            <a:srgbClr val="E4C5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4855464"/>
            <a:ext cx="4236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 ile eşdeğerlik testi (n=100/75) → parite iddiasını istatistiksel olarak kur.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26365C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114800"/>
            <a:ext cx="3657600" cy="365760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2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cümlede tez katkısı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Dar-domain bir SLM+harness sisteminin frontier dağıtım-sınıfına maliyet-normalize paritesini ölçen bir çerçeve + FT-vs-harness katkı ayrıştırması — pozitif kadar negatif bulgularıyla, tüketici donanımında.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6087"/>
            </a:avLst>
          </a:prstGeom>
          <a:solidFill>
            <a:srgbClr val="1E2A4A"/>
          </a:solidFill>
          <a:ln w="12700">
            <a:solidFill>
              <a:srgbClr val="C29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3434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iş = KAPI 1  </a:t>
            </a:r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rakip baseline, çıplak ölçüm. 'Önce ölç, sonra eğit.'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 repodan yeniden üretilebilir · anlatı research_log/ ve adr/'de tam kayıtlı · sabit seed, loglu koşu, temiz ablasyon.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E4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HakHukuk — Danışman Sunumu</dc:title>
  <dc:subject>PptxGenJS Presentation</dc:subject>
  <dc:creator>HakHukuk</dc:creator>
  <cp:lastModifiedBy>HakHukuk</cp:lastModifiedBy>
  <cp:revision>1</cp:revision>
  <dcterms:created xsi:type="dcterms:W3CDTF">2026-07-18T20:58:47Z</dcterms:created>
  <dcterms:modified xsi:type="dcterms:W3CDTF">2026-07-18T20:58:47Z</dcterms:modified>
</cp:coreProperties>
</file>